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6" r:id="rId3"/>
    <p:sldId id="304" r:id="rId4"/>
    <p:sldId id="307" r:id="rId5"/>
    <p:sldId id="308" r:id="rId6"/>
    <p:sldId id="310" r:id="rId7"/>
    <p:sldId id="288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21D70-E892-43A2-B663-C229C3E17C2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9D8B-47E7-409C-BBBA-B74D81E8A85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75" y="0"/>
            <a:ext cx="1381125" cy="1133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59260" y="0"/>
            <a:ext cx="1141425" cy="1216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5" y="229869"/>
            <a:ext cx="5695949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5" y="1621472"/>
            <a:ext cx="9318625" cy="460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037036" y="4343400"/>
            <a:ext cx="15113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7036" y="4895052"/>
            <a:ext cx="3399472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>
              <a:spcBef>
                <a:spcPts val="9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Chaitra (192425217)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0552" y="4343400"/>
            <a:ext cx="431387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uperv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ised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by</a:t>
            </a:r>
            <a:r>
              <a:rPr sz="20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 rot="10800000" flipV="1">
            <a:off x="610552" y="4916822"/>
            <a:ext cx="4285298" cy="30412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85"/>
              </a:spcBef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</a:rPr>
              <a:t>Dr Jeni Gracia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09800"/>
            <a:ext cx="1107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3600" b="1" dirty="0"/>
              <a:t>Under-Sampling in Digital Images</a:t>
            </a:r>
            <a:endParaRPr lang="en-US" sz="36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" y="0"/>
            <a:ext cx="10957034" cy="16720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3B56E5-F153-648B-D7A7-9EA152AC3B9A}"/>
              </a:ext>
            </a:extLst>
          </p:cNvPr>
          <p:cNvSpPr txBox="1"/>
          <p:nvPr/>
        </p:nvSpPr>
        <p:spPr>
          <a:xfrm>
            <a:off x="3124199" y="3276600"/>
            <a:ext cx="7971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ITA-0506 COMPUTER VISION SLOT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451553"/>
            <a:ext cx="8077200" cy="492443"/>
          </a:xfrm>
        </p:spPr>
        <p:txBody>
          <a:bodyPr/>
          <a:lstStyle/>
          <a:p>
            <a:pPr algn="ctr"/>
            <a:r>
              <a:rPr lang="en-IN" sz="3200" dirty="0"/>
              <a:t>UNDER-SAMPLING IN DIGITAL IMAGES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81" y="218607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8571" y="58421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9B5245-E724-5596-E76E-285993FCD79A}"/>
              </a:ext>
            </a:extLst>
          </p:cNvPr>
          <p:cNvSpPr txBox="1"/>
          <p:nvPr/>
        </p:nvSpPr>
        <p:spPr>
          <a:xfrm>
            <a:off x="225681" y="1361607"/>
            <a:ext cx="106928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What is Under-Sampling?</a:t>
            </a:r>
          </a:p>
          <a:p>
            <a:pPr algn="just">
              <a:buNone/>
            </a:pPr>
            <a:r>
              <a:rPr lang="en-IN" dirty="0"/>
              <a:t>Under-sampling occurs when an image is sampled at a rate lower than required to capture all its details. As a result, some visual information is lost, causing distortion and reduced image quality.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b="1" dirty="0"/>
              <a:t>Key Points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Sampling converts a continuous image into pixels.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Low sampling rate results in fewer pixels.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Fine details cannot be represented accurately.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Often leads to </a:t>
            </a:r>
            <a:r>
              <a:rPr lang="en-IN" b="1" dirty="0"/>
              <a:t>aliasing</a:t>
            </a:r>
            <a:r>
              <a:rPr lang="en-IN" dirty="0"/>
              <a:t> (jagged edges and false patterns).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Diagram:</a:t>
            </a:r>
            <a:endParaRPr lang="en-IN" dirty="0"/>
          </a:p>
          <a:p>
            <a:pPr algn="just" rtl="0"/>
            <a:r>
              <a:rPr lang="en-IN" dirty="0"/>
              <a:t>Original Image</a:t>
            </a:r>
          </a:p>
          <a:p>
            <a:pPr algn="just" rtl="0"/>
            <a:r>
              <a:rPr lang="en-IN" dirty="0"/>
              <a:t>       ↓</a:t>
            </a:r>
          </a:p>
          <a:p>
            <a:pPr algn="just" rtl="0"/>
            <a:r>
              <a:rPr lang="en-IN" dirty="0"/>
              <a:t>Sampling</a:t>
            </a:r>
          </a:p>
          <a:p>
            <a:pPr algn="just" rtl="0"/>
            <a:r>
              <a:rPr lang="en-IN" dirty="0"/>
              <a:t>       ↓</a:t>
            </a:r>
          </a:p>
          <a:p>
            <a:pPr algn="just" rtl="0"/>
            <a:r>
              <a:rPr lang="en-IN" dirty="0"/>
              <a:t>Too Few Pixels</a:t>
            </a:r>
          </a:p>
          <a:p>
            <a:pPr algn="just" rtl="0"/>
            <a:r>
              <a:rPr lang="en-IN" dirty="0"/>
              <a:t>       ↓</a:t>
            </a:r>
          </a:p>
          <a:p>
            <a:pPr algn="just" rtl="0"/>
            <a:r>
              <a:rPr lang="en-IN" dirty="0"/>
              <a:t>Under-Sampled Image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47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1"/>
            <a:ext cx="8323577" cy="1107996"/>
          </a:xfrm>
        </p:spPr>
        <p:txBody>
          <a:bodyPr/>
          <a:lstStyle/>
          <a:p>
            <a:pPr algn="ctr"/>
            <a:r>
              <a:rPr lang="en-IN" sz="3600" dirty="0"/>
              <a:t> Effects of Under-Sampling</a:t>
            </a:r>
            <a:br>
              <a:rPr lang="en-IN" sz="3600" dirty="0"/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4535" y="0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8B5FE-F6F9-56A9-0A9A-6DF2F946AB18}"/>
              </a:ext>
            </a:extLst>
          </p:cNvPr>
          <p:cNvSpPr txBox="1"/>
          <p:nvPr/>
        </p:nvSpPr>
        <p:spPr>
          <a:xfrm>
            <a:off x="381001" y="1340914"/>
            <a:ext cx="8399776" cy="52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Common Effects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Loss of image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Blurred appearance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Jagged edges (Aliasing)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Moiré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Reduced image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Incorrect object recognition </a:t>
            </a:r>
          </a:p>
          <a:p>
            <a:endParaRPr lang="en-IN" sz="2800" dirty="0"/>
          </a:p>
          <a:p>
            <a:pPr>
              <a:buNone/>
            </a:pPr>
            <a:r>
              <a:rPr lang="en-IN" sz="2800" b="1" dirty="0"/>
              <a:t>Example</a:t>
            </a:r>
          </a:p>
          <a:p>
            <a:pPr>
              <a:buNone/>
            </a:pPr>
            <a:r>
              <a:rPr lang="en-IN" sz="2400" dirty="0"/>
              <a:t>High Resolution → Sharp Image</a:t>
            </a:r>
          </a:p>
          <a:p>
            <a:pPr>
              <a:buNone/>
            </a:pPr>
            <a:r>
              <a:rPr lang="en-IN" sz="2400" dirty="0"/>
              <a:t>↓</a:t>
            </a:r>
          </a:p>
          <a:p>
            <a:pPr>
              <a:buNone/>
            </a:pPr>
            <a:r>
              <a:rPr lang="en-IN" sz="2400" dirty="0"/>
              <a:t>Low Resolution → Blurry &amp; Pixelated Image</a:t>
            </a:r>
          </a:p>
        </p:txBody>
      </p:sp>
    </p:spTree>
    <p:extLst>
      <p:ext uri="{BB962C8B-B14F-4D97-AF65-F5344CB8AC3E}">
        <p14:creationId xmlns:p14="http://schemas.microsoft.com/office/powerpoint/2010/main" val="179263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520248"/>
            <a:ext cx="8839200" cy="984885"/>
          </a:xfrm>
        </p:spPr>
        <p:txBody>
          <a:bodyPr/>
          <a:lstStyle/>
          <a:p>
            <a:pPr algn="ctr"/>
            <a:r>
              <a:rPr lang="en-IN" sz="3200" dirty="0"/>
              <a:t>Demonstration Using Graph</a:t>
            </a:r>
            <a:br>
              <a:rPr lang="en-IN" sz="3200" dirty="0"/>
            </a:br>
            <a:endParaRPr lang="en-IN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174" y="205288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47404B-621C-6DA1-D059-1CF1B7C4E034}"/>
              </a:ext>
            </a:extLst>
          </p:cNvPr>
          <p:cNvSpPr txBox="1"/>
          <p:nvPr/>
        </p:nvSpPr>
        <p:spPr>
          <a:xfrm>
            <a:off x="533400" y="1505134"/>
            <a:ext cx="861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Sampling Rate vs Image Quality</a:t>
            </a:r>
          </a:p>
          <a:p>
            <a:pPr>
              <a:buNone/>
            </a:pPr>
            <a:r>
              <a:rPr lang="en-IN" dirty="0"/>
              <a:t>Effect of Sampling Rate on Image Quality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Illustrative relationship between sampling rate and perceived image quality.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36FCAB-95E3-A384-477F-E9AC37A3F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957012"/>
            <a:ext cx="6096000" cy="3619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82709A-AFE4-F5D5-6358-BA68A74FCE1C}"/>
              </a:ext>
            </a:extLst>
          </p:cNvPr>
          <p:cNvSpPr txBox="1"/>
          <p:nvPr/>
        </p:nvSpPr>
        <p:spPr>
          <a:xfrm>
            <a:off x="7086600" y="3505200"/>
            <a:ext cx="48625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 the sampling rate increases, image quality also improves.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low sampling rates produce significant distortion and loss of detail.</a:t>
            </a:r>
          </a:p>
        </p:txBody>
      </p:sp>
    </p:spTree>
    <p:extLst>
      <p:ext uri="{BB962C8B-B14F-4D97-AF65-F5344CB8AC3E}">
        <p14:creationId xmlns:p14="http://schemas.microsoft.com/office/powerpoint/2010/main" val="291240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520248"/>
            <a:ext cx="8229599" cy="553998"/>
          </a:xfrm>
        </p:spPr>
        <p:txBody>
          <a:bodyPr/>
          <a:lstStyle/>
          <a:p>
            <a:pPr algn="ctr"/>
            <a:r>
              <a:rPr lang="en-IN" sz="3600" dirty="0"/>
              <a:t>Real-World Applications</a:t>
            </a:r>
            <a:endParaRPr lang="en-IN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3C6993-D200-FAA8-7447-4175A500E31C}"/>
              </a:ext>
            </a:extLst>
          </p:cNvPr>
          <p:cNvSpPr txBox="1"/>
          <p:nvPr/>
        </p:nvSpPr>
        <p:spPr>
          <a:xfrm>
            <a:off x="242888" y="1658284"/>
            <a:ext cx="117205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Where Under-Sampling Matters</a:t>
            </a:r>
          </a:p>
          <a:p>
            <a:pPr algn="just">
              <a:buNone/>
            </a:pPr>
            <a:endParaRPr lang="en-IN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Medical Imaging (MRI &amp; CT scans)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Satellite Image Processing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CCTV Surveillance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Face Recognition Systems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Autonomous Vehicles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Industrial Quality Inspection </a:t>
            </a:r>
          </a:p>
          <a:p>
            <a:pPr algn="just"/>
            <a:endParaRPr lang="en-IN" sz="2400" dirty="0"/>
          </a:p>
          <a:p>
            <a:pPr algn="just">
              <a:buNone/>
            </a:pPr>
            <a:r>
              <a:rPr lang="en-IN" sz="2400" b="1" dirty="0"/>
              <a:t>Example Problem</a:t>
            </a:r>
          </a:p>
          <a:p>
            <a:pPr algn="just">
              <a:buNone/>
            </a:pPr>
            <a:r>
              <a:rPr lang="en-IN" sz="2400" dirty="0"/>
              <a:t>A CCTV camera records video at low resolution. Due to under-sampling, facial features become blurred, making it difficult to identify individuals accurately.</a:t>
            </a:r>
          </a:p>
        </p:txBody>
      </p:sp>
    </p:spTree>
    <p:extLst>
      <p:ext uri="{BB962C8B-B14F-4D97-AF65-F5344CB8AC3E}">
        <p14:creationId xmlns:p14="http://schemas.microsoft.com/office/powerpoint/2010/main" val="331156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199" y="520248"/>
            <a:ext cx="2895601" cy="1231106"/>
          </a:xfrm>
        </p:spPr>
        <p:txBody>
          <a:bodyPr/>
          <a:lstStyle/>
          <a:p>
            <a:pPr algn="l"/>
            <a:r>
              <a:rPr lang="en-IN" sz="4000" dirty="0"/>
              <a:t>Conclusion</a:t>
            </a:r>
            <a:br>
              <a:rPr lang="en-IN" sz="4000" dirty="0"/>
            </a:b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5" y="304800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882DB-860C-07DE-B3C7-335B6039C61B}"/>
              </a:ext>
            </a:extLst>
          </p:cNvPr>
          <p:cNvSpPr txBox="1"/>
          <p:nvPr/>
        </p:nvSpPr>
        <p:spPr>
          <a:xfrm>
            <a:off x="990600" y="1981200"/>
            <a:ext cx="99877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Under-sampling occurs when an image is captured with too few samples (pixels). </a:t>
            </a:r>
          </a:p>
          <a:p>
            <a:pPr algn="just"/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It causes aliasing, blurred images, and loss of important details. </a:t>
            </a:r>
          </a:p>
          <a:p>
            <a:pPr algn="just"/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Increasing the sampling rate improves image quality and system accuracy. </a:t>
            </a:r>
          </a:p>
          <a:p>
            <a:pPr algn="just"/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Proper sampling is essential in healthcare, surveillance, robotics, and autonomous systems.</a:t>
            </a:r>
          </a:p>
        </p:txBody>
      </p:sp>
    </p:spTree>
    <p:extLst>
      <p:ext uri="{BB962C8B-B14F-4D97-AF65-F5344CB8AC3E}">
        <p14:creationId xmlns:p14="http://schemas.microsoft.com/office/powerpoint/2010/main" val="128387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2829560"/>
            <a:ext cx="60331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322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UNDER-SAMPLING IN DIGITAL IMAGES</vt:lpstr>
      <vt:lpstr> Effects of Under-Sampling </vt:lpstr>
      <vt:lpstr>Demonstration Using Graph </vt:lpstr>
      <vt:lpstr>Real-World Applications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</dc:title>
  <dc:creator>LENOVO</dc:creator>
  <cp:lastModifiedBy>Chaitra Thulluru</cp:lastModifiedBy>
  <cp:revision>26</cp:revision>
  <dcterms:created xsi:type="dcterms:W3CDTF">2025-12-24T03:01:00Z</dcterms:created>
  <dcterms:modified xsi:type="dcterms:W3CDTF">2026-07-14T02:42:45Z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2025-12-24T11:00:00Z</vt:filetime>
  </property>
  <property fmtid="{D5CDD505-2E9C-101B-9397-08002B2CF9AE}" pid="3" name="LastSaved">
    <vt:filetime>2025-12-24T11:00:00Z</vt:filetime>
  </property>
  <property fmtid="{D5CDD505-2E9C-101B-9397-08002B2CF9AE}" pid="4" name="ICV">
    <vt:lpwstr>65C4E49682984BF98145F6A23285ED7B_12</vt:lpwstr>
  </property>
  <property fmtid="{D5CDD505-2E9C-101B-9397-08002B2CF9AE}" pid="5" name="KSOProductBuildVer">
    <vt:lpwstr>1033-12.2.0.23196</vt:lpwstr>
  </property>
</Properties>
</file>